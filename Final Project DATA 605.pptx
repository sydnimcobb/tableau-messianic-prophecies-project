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73" r:id="rId6"/>
    <p:sldId id="267" r:id="rId7"/>
    <p:sldId id="268" r:id="rId8"/>
    <p:sldId id="270" r:id="rId9"/>
    <p:sldId id="271" r:id="rId10"/>
    <p:sldId id="272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8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0C1CA843-6D9D-4498-AEBE-270E619959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Tracing the Christ:</a:t>
            </a:r>
            <a:br>
              <a:rPr lang="en-US" sz="3600" dirty="0">
                <a:latin typeface="+mn-lt"/>
              </a:rPr>
            </a:br>
            <a:r>
              <a:rPr lang="en-US" sz="3600" dirty="0">
                <a:latin typeface="+mn-lt"/>
              </a:rPr>
              <a:t>Visualizing Messianic Prophecies through the Biblical Canon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E4983611-DBF3-4F94-80E7-501ECCAF99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200" dirty="0"/>
              <a:t>Sydni Cobb</a:t>
            </a:r>
          </a:p>
          <a:p>
            <a:r>
              <a:rPr lang="en-US" sz="2200" dirty="0"/>
              <a:t>Department of Computing Sciences and Mathematics, Franklin University</a:t>
            </a:r>
          </a:p>
          <a:p>
            <a:r>
              <a:rPr lang="en-US" sz="2200" dirty="0"/>
              <a:t>DATA 605: Data Visualization and Reporting</a:t>
            </a:r>
          </a:p>
          <a:p>
            <a:r>
              <a:rPr lang="en-US" sz="2200" dirty="0"/>
              <a:t>Dr. James O. Webb, Jr.</a:t>
            </a:r>
          </a:p>
          <a:p>
            <a:r>
              <a:rPr lang="en-US" sz="2200" dirty="0"/>
              <a:t>May 10, 2025</a:t>
            </a: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8A9D2-535E-D181-B31E-7757BDC12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165CC-65AC-E4E6-EB21-943C993C1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800" b="1" dirty="0"/>
              <a:t>Objective</a:t>
            </a:r>
            <a:r>
              <a:rPr lang="en-US" sz="1800" dirty="0"/>
              <a:t>: Visualize the connections of Messianic prophecies in the Old and New Testaments of the Bible</a:t>
            </a:r>
          </a:p>
          <a:p>
            <a:pPr>
              <a:lnSpc>
                <a:spcPct val="200000"/>
              </a:lnSpc>
            </a:pPr>
            <a:r>
              <a:rPr lang="en-US" sz="1800" b="1" dirty="0"/>
              <a:t>Motivation</a:t>
            </a:r>
            <a:r>
              <a:rPr lang="en-US" sz="1800" dirty="0"/>
              <a:t>: Inspired by the Great Commission found in Matthew 28:19 (</a:t>
            </a:r>
            <a:r>
              <a:rPr lang="en-US" sz="1800" dirty="0" err="1"/>
              <a:t>YouVersion</a:t>
            </a:r>
            <a:r>
              <a:rPr lang="en-US" sz="1800" dirty="0"/>
              <a:t>. (n.d.))</a:t>
            </a:r>
          </a:p>
          <a:p>
            <a:pPr>
              <a:lnSpc>
                <a:spcPct val="200000"/>
              </a:lnSpc>
            </a:pPr>
            <a:r>
              <a:rPr lang="en-US" sz="1800" b="1" dirty="0"/>
              <a:t>Goal</a:t>
            </a:r>
            <a:r>
              <a:rPr lang="en-US" sz="1800" dirty="0"/>
              <a:t>: Evangelize through data visualization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347244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4BAEF-39DE-150C-0BBC-47926DF2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Cultural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171E1-ABB0-0FB0-6FC3-D857811AB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800" dirty="0"/>
              <a:t>Christianity is </a:t>
            </a:r>
            <a:r>
              <a:rPr lang="en-US" sz="1800" b="1" dirty="0"/>
              <a:t>deeply embedded in Western culture</a:t>
            </a:r>
            <a:r>
              <a:rPr lang="en-US" sz="1800" dirty="0"/>
              <a:t>—education, healthcare, art, politics (Wikipedia contributors, n.d.).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Major </a:t>
            </a:r>
            <a:r>
              <a:rPr lang="en-US" sz="1800" b="1" dirty="0"/>
              <a:t>Christian holidays</a:t>
            </a:r>
            <a:r>
              <a:rPr lang="en-US" sz="1800" dirty="0"/>
              <a:t>—Easter and Christmas—are celebrated by many non-Christians (Pew Research Center, 2013).</a:t>
            </a:r>
          </a:p>
          <a:p>
            <a:pPr>
              <a:lnSpc>
                <a:spcPct val="200000"/>
              </a:lnSpc>
            </a:pPr>
            <a:r>
              <a:rPr lang="en-US" sz="1800" b="1" dirty="0"/>
              <a:t>Gregorian calendar </a:t>
            </a:r>
            <a:r>
              <a:rPr lang="en-US" sz="1800" dirty="0"/>
              <a:t>itself is based on the </a:t>
            </a:r>
            <a:r>
              <a:rPr lang="en-US" sz="1800" b="1" dirty="0"/>
              <a:t>birth of Jesus </a:t>
            </a:r>
            <a:r>
              <a:rPr lang="en-US" sz="1800" dirty="0"/>
              <a:t>(Wikipedia contributors, n.d.).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Recent trends show </a:t>
            </a:r>
            <a:r>
              <a:rPr lang="en-US" sz="1800" b="1" dirty="0"/>
              <a:t>Christian decline </a:t>
            </a:r>
            <a:r>
              <a:rPr lang="en-US" sz="1800" dirty="0"/>
              <a:t>in the U.S. may be </a:t>
            </a:r>
            <a:r>
              <a:rPr lang="en-US" sz="1800" b="1" dirty="0"/>
              <a:t>stabilizing</a:t>
            </a:r>
            <a:r>
              <a:rPr lang="en-US" sz="1800" dirty="0"/>
              <a:t> (Pew Research Center, 2025).</a:t>
            </a:r>
          </a:p>
        </p:txBody>
      </p:sp>
    </p:spTree>
    <p:extLst>
      <p:ext uri="{BB962C8B-B14F-4D97-AF65-F5344CB8AC3E}">
        <p14:creationId xmlns:p14="http://schemas.microsoft.com/office/powerpoint/2010/main" val="3531679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77256-C6E6-F043-EF25-A6F208373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026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“Where are Old Testament prophecies about Christ fulfilled in the New Testament of the biblical canon?”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84A95-726B-D038-7064-8BB7F995F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857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Exploring this question will:</a:t>
            </a:r>
            <a:endParaRPr lang="en-US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US" sz="2400" dirty="0"/>
              <a:t>Aid Christians in answering for our faith</a:t>
            </a:r>
          </a:p>
          <a:p>
            <a:r>
              <a:rPr lang="en-US" sz="2400" dirty="0"/>
              <a:t>Present a nuanced perspective of God to non-Christians using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184462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9FA1F-3640-6507-B530-88838757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Datasets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7C4C7-EA68-0A9B-554D-F85CF400E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386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67BA-677F-CCA3-EED4-3C6332161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Datasets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DD08A-0CCB-2899-871A-922E4A52E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Key Challenge</a:t>
            </a:r>
            <a:endParaRPr lang="en-US" sz="2400" dirty="0"/>
          </a:p>
          <a:p>
            <a:pPr lvl="1"/>
            <a:r>
              <a:rPr lang="en-US" dirty="0"/>
              <a:t>Built original datasets to best fit my scope</a:t>
            </a:r>
          </a:p>
          <a:p>
            <a:pPr lvl="1"/>
            <a:r>
              <a:rPr lang="en-US" dirty="0"/>
              <a:t>Goal: focus explicitly on prophecies of Christ’s arrival, birth, life, death and resurrection</a:t>
            </a:r>
          </a:p>
          <a:p>
            <a:pPr lvl="1"/>
            <a:endParaRPr lang="en-US" dirty="0"/>
          </a:p>
          <a:p>
            <a:r>
              <a:rPr lang="en-US" sz="2400" b="1" dirty="0"/>
              <a:t>Limitations of Existing Datasets</a:t>
            </a:r>
          </a:p>
          <a:p>
            <a:pPr lvl="1"/>
            <a:r>
              <a:rPr lang="en-US" dirty="0"/>
              <a:t>Did not align theologically or thematically with scope</a:t>
            </a:r>
          </a:p>
          <a:p>
            <a:pPr lvl="1"/>
            <a:r>
              <a:rPr lang="en-US" dirty="0"/>
              <a:t>Wanted to avoid cherry-picking the data</a:t>
            </a:r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68133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1E900-EC3C-433A-1C65-78F8EC923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Datasets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5F8D6-6522-3C67-6F2D-6CD98C62D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Solution</a:t>
            </a:r>
          </a:p>
          <a:p>
            <a:pPr lvl="1"/>
            <a:r>
              <a:rPr lang="en-US" dirty="0"/>
              <a:t>Compiled a list of scholarly agreed-upon Messianic prophecies</a:t>
            </a:r>
          </a:p>
          <a:p>
            <a:pPr lvl="1"/>
            <a:r>
              <a:rPr lang="en-US" dirty="0"/>
              <a:t>Minimum two scriptures per prophecy</a:t>
            </a:r>
          </a:p>
          <a:p>
            <a:pPr lvl="2"/>
            <a:r>
              <a:rPr lang="en-US" sz="2400" dirty="0"/>
              <a:t>Old Testament (prophecy)</a:t>
            </a:r>
          </a:p>
          <a:p>
            <a:pPr lvl="2"/>
            <a:r>
              <a:rPr lang="en-US" sz="2400" dirty="0"/>
              <a:t>New Testament (fulfillment)</a:t>
            </a:r>
          </a:p>
          <a:p>
            <a:r>
              <a:rPr lang="en-US" sz="2400" b="1" dirty="0"/>
              <a:t>Data Collection and Development</a:t>
            </a:r>
          </a:p>
          <a:p>
            <a:pPr lvl="1"/>
            <a:r>
              <a:rPr lang="en-US" dirty="0"/>
              <a:t>Created Excel workbooks with detailed headers</a:t>
            </a:r>
          </a:p>
          <a:p>
            <a:pPr lvl="1"/>
            <a:r>
              <a:rPr lang="en-US" dirty="0"/>
              <a:t>Used ChatGPT </a:t>
            </a:r>
            <a:r>
              <a:rPr lang="en-US" b="1" dirty="0"/>
              <a:t>only</a:t>
            </a:r>
            <a:r>
              <a:rPr lang="en-US" dirty="0"/>
              <a:t> to find data and return verifiable sources</a:t>
            </a:r>
          </a:p>
          <a:p>
            <a:pPr lvl="1"/>
            <a:r>
              <a:rPr lang="en-US" dirty="0"/>
              <a:t>Did </a:t>
            </a:r>
            <a:r>
              <a:rPr lang="en-US" b="1" dirty="0"/>
              <a:t>not</a:t>
            </a:r>
            <a:r>
              <a:rPr lang="en-US" dirty="0"/>
              <a:t> use AI for analysis or visualization ideas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sz="2400" dirty="0"/>
          </a:p>
          <a:p>
            <a:pPr lvl="2"/>
            <a:endParaRPr lang="en-US" sz="2400" dirty="0"/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70261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C6DEE-D6E9-6043-97FD-7947AA93F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Datasets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8AF7F-F1A7-DC96-6457-4583E986C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989"/>
            <a:ext cx="10515600" cy="4351338"/>
          </a:xfrm>
        </p:spPr>
        <p:txBody>
          <a:bodyPr numCol="2">
            <a:noAutofit/>
          </a:bodyPr>
          <a:lstStyle/>
          <a:p>
            <a:r>
              <a:rPr lang="en-US" sz="2400" b="1" dirty="0"/>
              <a:t>Messianic_Prophecy_Scriptures Workbook</a:t>
            </a:r>
          </a:p>
          <a:p>
            <a:pPr lvl="1"/>
            <a:r>
              <a:rPr lang="en-US" dirty="0"/>
              <a:t>Compilation of scriptures</a:t>
            </a:r>
          </a:p>
          <a:p>
            <a:pPr lvl="1"/>
            <a:r>
              <a:rPr lang="en-US" dirty="0"/>
              <a:t>Fields:</a:t>
            </a:r>
          </a:p>
          <a:p>
            <a:pPr lvl="2"/>
            <a:r>
              <a:rPr lang="en-US" sz="2400" dirty="0"/>
              <a:t>Prophecy #</a:t>
            </a:r>
          </a:p>
          <a:p>
            <a:pPr lvl="2"/>
            <a:r>
              <a:rPr lang="en-US" sz="2400" dirty="0"/>
              <a:t>Reference #</a:t>
            </a:r>
          </a:p>
          <a:p>
            <a:pPr lvl="2"/>
            <a:r>
              <a:rPr lang="en-US" sz="2400" dirty="0"/>
              <a:t>Reference (Scripture)</a:t>
            </a:r>
          </a:p>
          <a:p>
            <a:pPr lvl="2"/>
            <a:r>
              <a:rPr lang="en-US" sz="2400" dirty="0"/>
              <a:t>Scripture Text (ESV Translation)</a:t>
            </a:r>
          </a:p>
          <a:p>
            <a:pPr lvl="2"/>
            <a:r>
              <a:rPr lang="en-US" sz="2400" dirty="0"/>
              <a:t>Book</a:t>
            </a:r>
          </a:p>
          <a:p>
            <a:pPr lvl="2"/>
            <a:r>
              <a:rPr lang="en-US" sz="2400" dirty="0"/>
              <a:t>Testament</a:t>
            </a:r>
          </a:p>
          <a:p>
            <a:pPr lvl="2"/>
            <a:r>
              <a:rPr lang="en-US" sz="2400" dirty="0"/>
              <a:t>Author</a:t>
            </a:r>
          </a:p>
          <a:p>
            <a:pPr lvl="2"/>
            <a:r>
              <a:rPr lang="en-US" sz="2400" dirty="0"/>
              <a:t>Speaker</a:t>
            </a:r>
          </a:p>
          <a:p>
            <a:pPr lvl="2"/>
            <a:r>
              <a:rPr lang="en-US" sz="2400" dirty="0"/>
              <a:t>Prophecy? (Boolean)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  <a:p>
            <a:pPr lvl="2"/>
            <a:r>
              <a:rPr lang="en-US" sz="2400" dirty="0"/>
              <a:t>Fulfillment? </a:t>
            </a:r>
            <a:r>
              <a:rPr lang="en-US" sz="2400" i="1" dirty="0"/>
              <a:t>(Boolean)</a:t>
            </a:r>
          </a:p>
          <a:p>
            <a:pPr lvl="2"/>
            <a:r>
              <a:rPr lang="en-US" sz="2400" dirty="0"/>
              <a:t>Original Language</a:t>
            </a:r>
          </a:p>
          <a:p>
            <a:pPr lvl="2"/>
            <a:r>
              <a:rPr lang="en-US" sz="2400" dirty="0"/>
              <a:t>Date Written (BCE/CE)</a:t>
            </a:r>
          </a:p>
          <a:p>
            <a:pPr lvl="2"/>
            <a:r>
              <a:rPr lang="en-US" sz="2400" dirty="0"/>
              <a:t>Midpoint Date</a:t>
            </a:r>
          </a:p>
          <a:p>
            <a:pPr lvl="2"/>
            <a:r>
              <a:rPr lang="en-US" sz="2400" dirty="0"/>
              <a:t>Location</a:t>
            </a:r>
          </a:p>
          <a:p>
            <a:pPr lvl="2"/>
            <a:r>
              <a:rPr lang="en-US" sz="2400" dirty="0"/>
              <a:t>Latitude</a:t>
            </a:r>
          </a:p>
          <a:p>
            <a:pPr lvl="2"/>
            <a:r>
              <a:rPr lang="en-US" sz="2400" dirty="0"/>
              <a:t>Longitude</a:t>
            </a:r>
          </a:p>
          <a:p>
            <a:pPr lvl="2"/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06020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BE513-6EB3-400A-99A9-F74DF52E4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Datasets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18814-61A2-611D-52B3-DDC568715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Prophecy Workbook</a:t>
            </a:r>
          </a:p>
          <a:p>
            <a:pPr lvl="1"/>
            <a:r>
              <a:rPr lang="en-US" dirty="0"/>
              <a:t>Compilation of 63 prophecies</a:t>
            </a:r>
          </a:p>
          <a:p>
            <a:pPr lvl="1"/>
            <a:r>
              <a:rPr lang="en-US" dirty="0"/>
              <a:t>Fields:</a:t>
            </a:r>
          </a:p>
          <a:p>
            <a:pPr lvl="2"/>
            <a:r>
              <a:rPr lang="en-US" sz="2400" dirty="0"/>
              <a:t>Prophecy #</a:t>
            </a:r>
          </a:p>
          <a:p>
            <a:pPr lvl="2"/>
            <a:r>
              <a:rPr lang="en-US" sz="2400" dirty="0"/>
              <a:t>Prophecy Description</a:t>
            </a:r>
          </a:p>
          <a:p>
            <a:pPr lvl="2"/>
            <a:endParaRPr lang="en-US" sz="2400" dirty="0"/>
          </a:p>
          <a:p>
            <a:r>
              <a:rPr lang="en-US" sz="2400" b="1" dirty="0"/>
              <a:t>Sources</a:t>
            </a:r>
          </a:p>
          <a:p>
            <a:pPr lvl="1"/>
            <a:r>
              <a:rPr lang="en-US" dirty="0"/>
              <a:t>Data collected from verifiable Bible dictionaries, commentaries, encyclopedias, and publishers</a:t>
            </a:r>
          </a:p>
          <a:p>
            <a:pPr lvl="1"/>
            <a:r>
              <a:rPr lang="en-US" dirty="0"/>
              <a:t>All sources cited in reference list</a:t>
            </a:r>
          </a:p>
        </p:txBody>
      </p:sp>
    </p:spTree>
    <p:extLst>
      <p:ext uri="{BB962C8B-B14F-4D97-AF65-F5344CB8AC3E}">
        <p14:creationId xmlns:p14="http://schemas.microsoft.com/office/powerpoint/2010/main" val="3685725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1E33A-8BEE-FFCD-E486-E856FE984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 Story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CA429-3557-27F4-4975-593B4060D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465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841B5-489F-775E-CBD1-9DC7D8F47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-137333"/>
            <a:ext cx="3932237" cy="1600200"/>
          </a:xfrm>
        </p:spPr>
        <p:txBody>
          <a:bodyPr>
            <a:normAutofit/>
          </a:bodyPr>
          <a:lstStyle/>
          <a:p>
            <a:r>
              <a:rPr lang="en-US" sz="3600" dirty="0"/>
              <a:t>Scriptures Table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15038A-48BC-0F95-920E-DCEAA86871B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15" r="21715"/>
          <a:stretch/>
        </p:blipFill>
        <p:spPr>
          <a:xfrm>
            <a:off x="4772025" y="662767"/>
            <a:ext cx="6951099" cy="548865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CBDBD-484B-7EE0-C2E9-E80057B9B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6" y="1523206"/>
            <a:ext cx="3932237" cy="3811588"/>
          </a:xfrm>
        </p:spPr>
        <p:txBody>
          <a:bodyPr numCol="1">
            <a:noAutofit/>
          </a:bodyPr>
          <a:lstStyle/>
          <a:p>
            <a:r>
              <a:rPr lang="en-US" sz="1800" b="1" dirty="0"/>
              <a:t>Text Table </a:t>
            </a:r>
            <a:r>
              <a:rPr lang="en-US" sz="1800" dirty="0"/>
              <a:t>listing every scripture in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Centralizes all prophecy and fulfillment scriptures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Allows comparison of authorship across prophecies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Highlights time and date differences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Encourages reflection on divine coordination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48792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7FBF5-04F7-8284-E948-3BE694F8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39" y="35105"/>
            <a:ext cx="3932237" cy="1600200"/>
          </a:xfrm>
        </p:spPr>
        <p:txBody>
          <a:bodyPr>
            <a:normAutofit/>
          </a:bodyPr>
          <a:lstStyle/>
          <a:p>
            <a:r>
              <a:rPr lang="en-US" sz="3600" dirty="0"/>
              <a:t>Mapped Writings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9F95A-A713-F0E6-7E8B-055476BAF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9939" y="1794326"/>
            <a:ext cx="3932237" cy="3811588"/>
          </a:xfrm>
        </p:spPr>
        <p:txBody>
          <a:bodyPr>
            <a:normAutofit/>
          </a:bodyPr>
          <a:lstStyle/>
          <a:p>
            <a:r>
              <a:rPr lang="en-US" sz="1800" b="1" dirty="0"/>
              <a:t>Interactive map</a:t>
            </a:r>
            <a:r>
              <a:rPr lang="en-US" sz="1800" dirty="0"/>
              <a:t> showing where each scripture was written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Uses geospatial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Color differentiates Old and New Testaments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Tooltips and filters allow for</a:t>
            </a:r>
            <a:br>
              <a:rPr lang="en-US" sz="1800" dirty="0"/>
            </a:br>
            <a:r>
              <a:rPr lang="en-US" sz="1800" dirty="0"/>
              <a:t>comparison of scriptures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11E0B3-2BC0-9FDC-2B2A-EE37A8AB71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821" y="1093064"/>
            <a:ext cx="8412179" cy="473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644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26869-54E2-6782-8FF9-1AFA25AAA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749" y="447476"/>
            <a:ext cx="3932237" cy="1600200"/>
          </a:xfrm>
        </p:spPr>
        <p:txBody>
          <a:bodyPr>
            <a:normAutofit/>
          </a:bodyPr>
          <a:lstStyle/>
          <a:p>
            <a:r>
              <a:rPr lang="en-US" sz="3600" dirty="0"/>
              <a:t>Prophecy Timeline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32F10-2DD7-3B6B-4735-F5E953BE4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1749" y="2057400"/>
            <a:ext cx="3932237" cy="3811588"/>
          </a:xfrm>
        </p:spPr>
        <p:txBody>
          <a:bodyPr>
            <a:noAutofit/>
          </a:bodyPr>
          <a:lstStyle/>
          <a:p>
            <a:r>
              <a:rPr lang="en-US" sz="1800" b="1" dirty="0"/>
              <a:t>Scatterplot with Line Marks</a:t>
            </a:r>
            <a:r>
              <a:rPr lang="en-US" sz="1800" dirty="0"/>
              <a:t> (line chart)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X-axis: Midpoint Date (whole number)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Y-axis: calculated field Axis Point (Old Testament = 1, New Testament = 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Reference line and pane coloring to</a:t>
            </a:r>
            <a:br>
              <a:rPr lang="en-US" sz="1800" dirty="0"/>
            </a:br>
            <a:r>
              <a:rPr lang="en-US" sz="1800" dirty="0"/>
              <a:t>show BCE/CE split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Optional filters and tooltips for clarity </a:t>
            </a:r>
            <a:br>
              <a:rPr lang="en-US" sz="1800" dirty="0"/>
            </a:br>
            <a:r>
              <a:rPr lang="en-US" sz="1800" dirty="0"/>
              <a:t>and exploration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Limitations: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No date data 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Visual clutter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Design challenges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C7BEB-C114-0889-7B26-10FC299F4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3988" y="1375731"/>
            <a:ext cx="7988012" cy="449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066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08BAF-4BD6-F8DB-80DE-90CFD21C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457200"/>
            <a:ext cx="3932237" cy="1600200"/>
          </a:xfrm>
        </p:spPr>
        <p:txBody>
          <a:bodyPr>
            <a:normAutofit/>
          </a:bodyPr>
          <a:lstStyle/>
          <a:p>
            <a:r>
              <a:rPr lang="en-US" sz="3600" dirty="0"/>
              <a:t>OT/NT Frequency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722F5-4B0F-5F6B-E6A8-C49166BE6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864" y="2057400"/>
            <a:ext cx="3932237" cy="3811588"/>
          </a:xfrm>
        </p:spPr>
        <p:txBody>
          <a:bodyPr>
            <a:normAutofit/>
          </a:bodyPr>
          <a:lstStyle/>
          <a:p>
            <a:r>
              <a:rPr lang="en-US" sz="1800" b="1" dirty="0"/>
              <a:t>Two bar charts</a:t>
            </a:r>
            <a:r>
              <a:rPr lang="en-US" sz="1800" dirty="0"/>
              <a:t> (one each for Old and New Testaments)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Columns: Book field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Rows: Distinct Count of Prophecy #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Filters applied to Testament, respectively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Labeled columns with Distinct Count of Prophecy #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Original Language on Color Mark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Tooltips and optional filters for detail and exploration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5125A3-3DA2-B6B9-EB63-F7BB42B86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438" y="0"/>
            <a:ext cx="6045052" cy="34003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BD1699-23D1-D0AC-D831-B4F094957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437" y="3429000"/>
            <a:ext cx="6096004" cy="34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02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96879-FCC2-E62C-C01D-F9427D8F5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8036"/>
            <a:ext cx="3932237" cy="1600200"/>
          </a:xfrm>
        </p:spPr>
        <p:txBody>
          <a:bodyPr>
            <a:normAutofit/>
          </a:bodyPr>
          <a:lstStyle/>
          <a:p>
            <a:r>
              <a:rPr lang="en-US" sz="3600" dirty="0"/>
              <a:t>Testament Distribution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70E8C-43ED-76B4-52D4-2C92B6CA2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5497" y="2168236"/>
            <a:ext cx="3932237" cy="3811588"/>
          </a:xfrm>
        </p:spPr>
        <p:txBody>
          <a:bodyPr>
            <a:normAutofit/>
          </a:bodyPr>
          <a:lstStyle/>
          <a:p>
            <a:r>
              <a:rPr lang="en-US" sz="1800" b="1" dirty="0"/>
              <a:t>Treemaps</a:t>
            </a:r>
            <a:r>
              <a:rPr lang="en-US" sz="1800" dirty="0"/>
              <a:t> showing distribution of scriptures in each Testament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Marks used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Book (Color and Detail)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Reference # (Detail)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Count of Reference # (Size)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Tooltip details each scripture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Optional filters and color legend for interactivity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Rich in detail, not completely accurate (duplicates)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873650-488A-1677-7F5E-ADFC8F37D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237" y="1152260"/>
            <a:ext cx="8259763" cy="463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91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E8F38-8F76-55A4-DCA8-30514163D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88468-2AF1-F88F-9894-3E716E56B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Tracing the Prophecies</a:t>
            </a:r>
          </a:p>
        </p:txBody>
      </p:sp>
    </p:spTree>
    <p:extLst>
      <p:ext uri="{BB962C8B-B14F-4D97-AF65-F5344CB8AC3E}">
        <p14:creationId xmlns:p14="http://schemas.microsoft.com/office/powerpoint/2010/main" val="805878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DCFDA-AD66-FA73-1FD9-E1EAA8352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4" y="457200"/>
            <a:ext cx="3932237" cy="1600200"/>
          </a:xfrm>
        </p:spPr>
        <p:txBody>
          <a:bodyPr>
            <a:normAutofit/>
          </a:bodyPr>
          <a:lstStyle/>
          <a:p>
            <a:r>
              <a:rPr lang="en-US" sz="3600" dirty="0"/>
              <a:t>Tracing the Prophecies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E2A89-A813-7F3E-76E0-CA652ED90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94" y="2057400"/>
            <a:ext cx="3932237" cy="3811588"/>
          </a:xfrm>
        </p:spPr>
        <p:txBody>
          <a:bodyPr>
            <a:noAutofit/>
          </a:bodyPr>
          <a:lstStyle/>
          <a:p>
            <a:r>
              <a:rPr lang="en-US" sz="1800" b="1" dirty="0"/>
              <a:t>Dashboard</a:t>
            </a:r>
            <a:r>
              <a:rPr lang="en-US" sz="1800" dirty="0"/>
              <a:t> combining the map, line chart, and text table sheets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Goal: demonstrate scripture connections alongside time and location variances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All sheets are interactive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Instructions for exploring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Carefully selected filters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Limitations carried over from worksheets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Overall, insightful and informative, demonstrating the continuity of Messianic prophecies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313892-1DC9-CBB6-50C7-2F426BDC1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837" y="1106632"/>
            <a:ext cx="8257308" cy="464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464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D994-B939-3F0D-F791-BC4711A0D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Summary and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FB749-3629-06B9-8D88-702E6C603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Successfully visualized 63 Messianic prophecies and fulfillments</a:t>
            </a:r>
          </a:p>
          <a:p>
            <a:r>
              <a:rPr lang="en-US" sz="2400" dirty="0"/>
              <a:t>Revealed continuity alongside time and location variances</a:t>
            </a:r>
          </a:p>
          <a:p>
            <a:r>
              <a:rPr lang="en-US" sz="2400" dirty="0"/>
              <a:t>Self-made dataset introduced roadblocks and learning curves</a:t>
            </a:r>
          </a:p>
          <a:p>
            <a:r>
              <a:rPr lang="en-US" sz="2400" b="1" dirty="0"/>
              <a:t>Valuable tool </a:t>
            </a:r>
            <a:r>
              <a:rPr lang="en-US" sz="2400" dirty="0"/>
              <a:t>for exploring Christianity through data analysis</a:t>
            </a:r>
          </a:p>
          <a:p>
            <a:r>
              <a:rPr lang="en-US" sz="2400" dirty="0"/>
              <a:t>Shows the </a:t>
            </a:r>
            <a:r>
              <a:rPr lang="en-US" sz="2400" b="1" dirty="0"/>
              <a:t>complex continuity </a:t>
            </a:r>
            <a:r>
              <a:rPr lang="en-US" sz="2400" dirty="0"/>
              <a:t>of Messianic prophecies in scripture</a:t>
            </a:r>
          </a:p>
          <a:p>
            <a:r>
              <a:rPr lang="en-US" sz="2400" dirty="0"/>
              <a:t>Encourages speculation of </a:t>
            </a:r>
            <a:r>
              <a:rPr lang="en-US" sz="2400" b="1" dirty="0"/>
              <a:t>divine intervention </a:t>
            </a:r>
            <a:r>
              <a:rPr lang="en-US" sz="2400" dirty="0"/>
              <a:t>by demonstrating overlap of facts and faith</a:t>
            </a:r>
          </a:p>
        </p:txBody>
      </p:sp>
    </p:spTree>
    <p:extLst>
      <p:ext uri="{BB962C8B-B14F-4D97-AF65-F5344CB8AC3E}">
        <p14:creationId xmlns:p14="http://schemas.microsoft.com/office/powerpoint/2010/main" val="1847216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16862-4C64-B3DB-4103-1BEFD2201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36" y="-16625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DBB9C-97CA-40C4-66D4-B683CDAF0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36" y="649577"/>
            <a:ext cx="11630891" cy="4976956"/>
          </a:xfrm>
        </p:spPr>
        <p:txBody>
          <a:bodyPr numCol="1"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Pew Research Center. (2013, December 18). Celebrating Christmas and the holidays, then and now.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	https://www.pewresearch.org/religion/2013/12/18/celebrating-christmas-and-the-holidays then-and-now/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Pew Research Center. (2025, February 26). Decline of Christianity in the U.S. has slowed, may have leveled off.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	https://www.pewresearch.org/religion/2025/02/26/decline-of-christianity-in-the-us has-slowed-may-have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	leveled-off/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Wikipedia contributors. (n.d.). Role of Christianity in civilization. Wikipedia. Retrieved April 19, 2025, from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	https://en.wikipedia.org/wiki/Role_of_Christianity_in_civilization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 err="1"/>
              <a:t>YouVersion</a:t>
            </a:r>
            <a:r>
              <a:rPr lang="en-US" sz="1800" dirty="0"/>
              <a:t>. (n.d.). Matthew 28 (English Standard Version). Bible.com. Retrieved April 19, 2025, from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	https://www.bible.com/bible/59/MAT.28.ESV </a:t>
            </a:r>
          </a:p>
        </p:txBody>
      </p:sp>
    </p:spTree>
    <p:extLst>
      <p:ext uri="{BB962C8B-B14F-4D97-AF65-F5344CB8AC3E}">
        <p14:creationId xmlns:p14="http://schemas.microsoft.com/office/powerpoint/2010/main" val="3924916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921</Words>
  <Application>Microsoft Office PowerPoint</Application>
  <PresentationFormat>Widescreen</PresentationFormat>
  <Paragraphs>137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Tracing the Christ: Visualizing Messianic Prophecies through the Biblical Canon</vt:lpstr>
      <vt:lpstr>Overview</vt:lpstr>
      <vt:lpstr>Cultural Context</vt:lpstr>
      <vt:lpstr>“Where are Old Testament prophecies about Christ fulfilled in the New Testament of the biblical canon?”</vt:lpstr>
      <vt:lpstr>Datasets</vt:lpstr>
      <vt:lpstr>Datasets </vt:lpstr>
      <vt:lpstr>Datasets (cont.)</vt:lpstr>
      <vt:lpstr>Datasets (cont.)</vt:lpstr>
      <vt:lpstr>Datasets (cont.)</vt:lpstr>
      <vt:lpstr>Data Story</vt:lpstr>
      <vt:lpstr>Scriptures Table</vt:lpstr>
      <vt:lpstr>Mapped Writings</vt:lpstr>
      <vt:lpstr>Prophecy Timeline</vt:lpstr>
      <vt:lpstr>OT/NT Frequency</vt:lpstr>
      <vt:lpstr>Testament Distribution</vt:lpstr>
      <vt:lpstr>Dashboard</vt:lpstr>
      <vt:lpstr>Tracing the Prophecies</vt:lpstr>
      <vt:lpstr>Summary and Conclusions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Cobb</dc:creator>
  <cp:lastModifiedBy>Sydni Cobb</cp:lastModifiedBy>
  <cp:revision>17</cp:revision>
  <dcterms:created xsi:type="dcterms:W3CDTF">2025-05-11T01:11:53Z</dcterms:created>
  <dcterms:modified xsi:type="dcterms:W3CDTF">2025-05-11T03:08:55Z</dcterms:modified>
</cp:coreProperties>
</file>